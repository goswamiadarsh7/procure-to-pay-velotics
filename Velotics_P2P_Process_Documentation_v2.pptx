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48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rsh puri Goswami" userId="2da2ed99e6d67c75" providerId="LiveId" clId="{E37A1F53-BBFF-45A2-B69E-AFBD7BB08C1C}"/>
    <pc:docChg chg="undo custSel modSld">
      <pc:chgData name="Adarsh puri Goswami" userId="2da2ed99e6d67c75" providerId="LiveId" clId="{E37A1F53-BBFF-45A2-B69E-AFBD7BB08C1C}" dt="2026-06-22T01:03:49.797" v="69" actId="20577"/>
      <pc:docMkLst>
        <pc:docMk/>
      </pc:docMkLst>
      <pc:sldChg chg="modSp mod">
        <pc:chgData name="Adarsh puri Goswami" userId="2da2ed99e6d67c75" providerId="LiveId" clId="{E37A1F53-BBFF-45A2-B69E-AFBD7BB08C1C}" dt="2026-06-22T01:03:00.287" v="23" actId="1036"/>
        <pc:sldMkLst>
          <pc:docMk/>
          <pc:sldMk cId="0" sldId="256"/>
        </pc:sldMkLst>
        <pc:spChg chg="mod">
          <ac:chgData name="Adarsh puri Goswami" userId="2da2ed99e6d67c75" providerId="LiveId" clId="{E37A1F53-BBFF-45A2-B69E-AFBD7BB08C1C}" dt="2026-06-22T01:03:00.287" v="23" actId="1036"/>
          <ac:spMkLst>
            <pc:docMk/>
            <pc:sldMk cId="0" sldId="256"/>
            <ac:spMk id="2" creationId="{00000000-0000-0000-0000-000000000000}"/>
          </ac:spMkLst>
        </pc:spChg>
        <pc:spChg chg="mod">
          <ac:chgData name="Adarsh puri Goswami" userId="2da2ed99e6d67c75" providerId="LiveId" clId="{E37A1F53-BBFF-45A2-B69E-AFBD7BB08C1C}" dt="2026-06-22T01:02:55.040" v="22" actId="20577"/>
          <ac:spMkLst>
            <pc:docMk/>
            <pc:sldMk cId="0" sldId="256"/>
            <ac:spMk id="9" creationId="{00000000-0000-0000-0000-000000000000}"/>
          </ac:spMkLst>
        </pc:spChg>
      </pc:sldChg>
      <pc:sldChg chg="modSp mod">
        <pc:chgData name="Adarsh puri Goswami" userId="2da2ed99e6d67c75" providerId="LiveId" clId="{E37A1F53-BBFF-45A2-B69E-AFBD7BB08C1C}" dt="2026-06-22T01:03:21.304" v="46" actId="20577"/>
        <pc:sldMkLst>
          <pc:docMk/>
          <pc:sldMk cId="0" sldId="257"/>
        </pc:sldMkLst>
        <pc:spChg chg="mod">
          <ac:chgData name="Adarsh puri Goswami" userId="2da2ed99e6d67c75" providerId="LiveId" clId="{E37A1F53-BBFF-45A2-B69E-AFBD7BB08C1C}" dt="2026-06-22T01:03:21.304" v="46" actId="20577"/>
          <ac:spMkLst>
            <pc:docMk/>
            <pc:sldMk cId="0" sldId="257"/>
            <ac:spMk id="22" creationId="{00000000-0000-0000-0000-000000000000}"/>
          </ac:spMkLst>
        </pc:spChg>
      </pc:sldChg>
      <pc:sldChg chg="modSp mod">
        <pc:chgData name="Adarsh puri Goswami" userId="2da2ed99e6d67c75" providerId="LiveId" clId="{E37A1F53-BBFF-45A2-B69E-AFBD7BB08C1C}" dt="2026-06-22T01:03:49.797" v="69" actId="20577"/>
        <pc:sldMkLst>
          <pc:docMk/>
          <pc:sldMk cId="0" sldId="265"/>
        </pc:sldMkLst>
        <pc:spChg chg="mod">
          <ac:chgData name="Adarsh puri Goswami" userId="2da2ed99e6d67c75" providerId="LiveId" clId="{E37A1F53-BBFF-45A2-B69E-AFBD7BB08C1C}" dt="2026-06-22T01:03:49.797" v="69" actId="20577"/>
          <ac:spMkLst>
            <pc:docMk/>
            <pc:sldMk cId="0" sldId="265"/>
            <ac:spMk id="16" creationId="{00000000-0000-0000-0000-000000000000}"/>
          </ac:spMkLst>
        </pc:spChg>
      </pc:sldChg>
      <pc:sldChg chg="modSp mod">
        <pc:chgData name="Adarsh puri Goswami" userId="2da2ed99e6d67c75" providerId="LiveId" clId="{E37A1F53-BBFF-45A2-B69E-AFBD7BB08C1C}" dt="2026-06-22T01:03:41.399" v="58" actId="20577"/>
        <pc:sldMkLst>
          <pc:docMk/>
          <pc:sldMk cId="0" sldId="266"/>
        </pc:sldMkLst>
        <pc:spChg chg="mod">
          <ac:chgData name="Adarsh puri Goswami" userId="2da2ed99e6d67c75" providerId="LiveId" clId="{E37A1F53-BBFF-45A2-B69E-AFBD7BB08C1C}" dt="2026-06-22T01:03:41.399" v="58" actId="20577"/>
          <ac:spMkLst>
            <pc:docMk/>
            <pc:sldMk cId="0" sldId="266"/>
            <ac:spMk id="14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</c:v>
                </c:pt>
              </c:strCache>
            </c:strRef>
          </c:tx>
          <c:spPr>
            <a:solidFill>
              <a:srgbClr val="B0382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B7D-4466-9A72-553202708C0E}"/>
              </c:ext>
            </c:extLst>
          </c:dPt>
          <c:dPt>
            <c:idx val="1"/>
            <c:invertIfNegative val="0"/>
            <c:bubble3D val="0"/>
            <c:spPr>
              <a:solidFill>
                <a:srgbClr val="1A7F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B7D-4466-9A72-553202708C0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Standard Cost</c:v>
                </c:pt>
                <c:pt idx="1">
                  <c:v>Negotiated Price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150.68</c:v>
                </c:pt>
                <c:pt idx="1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B7D-4466-9A72-553202708C0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3425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briefly. State this is a complete, live SAP execution — every document number shown is real and was created in SAP S/4HANA Cloud Public Edition 2602 on 19 June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numbers first, then the business case narrative. The 43.6% below standard cost is the standout figure — it shows SAP flagged a negotiation outcome as a price variance.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Contextualise before diving into the process. The production order link (1036845) grounds this in a real business need — not a test transaction.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 to each step number and connect it to the SAP document shown. The 3-way match note at the bottom is key — it's the core control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Material Group ZFRAME and the Purchasing Group 001 — both pulled correctly from the material master. Delivery date set 4 weeks out, consistent with supplier lead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'In Approval' status is important — it shows SAP's internal workflow fired correctly. Net value of $4,250 is confirmed: 50 x $85.00.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Movement type 101 = standard GR against a PO. Stock posted as Unrestricted-Use means it is immediately available for production consumption in the R100 production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green $0.00 balance is the key takeaway. SAP verified: PO price = Invoice price, and PO quantity = GR quantity = Invoice quantity. Payment can now be released.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$3,284 total saving = (150.68 - 85.00) x 50. This is the measurable commercial impact of the procurement cycle. 1 Day PR-to-PO reflects a same-day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recommendations show systems thinking beyond the transaction — you understand what should happen before and after this cycle in a real organisation.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closes the deck and frames everything the hiring manager has just seen. It answers the implicit question: 'why did you build this?' The answer is evidence, not description.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0405"/>
            <a:ext cx="5029200" cy="5029200"/>
          </a:xfrm>
          <a:prstGeom prst="ellipse">
            <a:avLst/>
          </a:prstGeom>
          <a:solidFill>
            <a:srgbClr val="162238"/>
          </a:solidFill>
          <a:ln w="12700">
            <a:solidFill>
              <a:srgbClr val="1622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5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S/4HANA CLOUD PUBLIC EDITION 2602  ·  PROCUREMENT PROCESS DOCUMENTATION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Procure-to-Pay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1536192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5DAD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Documentation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548640" y="2487168"/>
            <a:ext cx="1645920" cy="45720"/>
          </a:xfrm>
          <a:prstGeom prst="rect">
            <a:avLst/>
          </a:prstGeom>
          <a:solidFill>
            <a:srgbClr val="0070AD"/>
          </a:solidFill>
          <a:ln w="12700">
            <a:solidFill>
              <a:srgbClr val="0070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33472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BKR-100 Frame  ·  Steel &amp; More Inc.  ·  Plant 1 US (1710)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Velotics Inc.  ·  Company Code 1710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370832"/>
            <a:ext cx="9144000" cy="772668"/>
          </a:xfrm>
          <a:prstGeom prst="rect">
            <a:avLst/>
          </a:prstGeom>
          <a:solidFill>
            <a:srgbClr val="0F1E30"/>
          </a:solidFill>
          <a:ln w="12700">
            <a:solidFill>
              <a:srgbClr val="0F1E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4165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Adarsh Puri Goswami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Case &amp; Project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Velotics Inc. manufactures premium bicycles including the R100 Racing Bike. Production scheduling for Q3 2026 identified a shortfall of 50 BKR-100 Frame components at Plant 1 US (1710), required to fulfil Production Order 1036845. This document records the complete end-to-end Procure-to-Pay cycle executed in SAP S/4HANA Cloud to source those frames from approved supplier Steel &amp; More Inc. — from initial purchase requisition through to posted supplier invoice.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459736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0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$4,250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302666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 Value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frames @ $85.00 USD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0" y="233172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0" y="2459736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0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60320" y="302666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Documents Created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0" y="3337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· PO · GR · Invoice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233172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2459736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0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$0.00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63440" y="302666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Match Balance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3337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+ GR + Invoice aligned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66560" y="233172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66560" y="2459736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0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43.6%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766560" y="302666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Standard Cost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66560" y="3337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$85.00 vs $150.68 standard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8188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System: SAP S/4HANA Cloud Public Edition 2602  ·  Company Code: 1710 (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Velotics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Inc.)  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&amp; SCENARIO CONTEXT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 Are &amp; What We're Procuring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VELOTICS INC.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26464"/>
            <a:ext cx="3931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2646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29968" y="1426464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Velotics Inc.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47088"/>
            <a:ext cx="3931920" cy="347472"/>
          </a:xfrm>
          <a:prstGeom prst="roundRect">
            <a:avLst>
              <a:gd name="adj" fmla="val 13158"/>
            </a:avLst>
          </a:prstGeom>
          <a:solidFill>
            <a:srgbClr val="EBF2F9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29968" y="1847088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67712"/>
            <a:ext cx="3931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26771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29968" y="2267712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Bicycle Manufacturing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88336"/>
            <a:ext cx="3931920" cy="347472"/>
          </a:xfrm>
          <a:prstGeom prst="roundRect">
            <a:avLst>
              <a:gd name="adj" fmla="val 13158"/>
            </a:avLst>
          </a:prstGeom>
          <a:solidFill>
            <a:srgbClr val="EBF2F9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68833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29968" y="2688336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1 US (1710)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3931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1089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29968" y="3108960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Std. Storage 1 (171A)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529584"/>
            <a:ext cx="3931920" cy="347472"/>
          </a:xfrm>
          <a:prstGeom prst="roundRect">
            <a:avLst>
              <a:gd name="adj" fmla="val 13158"/>
            </a:avLst>
          </a:prstGeom>
          <a:solidFill>
            <a:srgbClr val="EBF2F9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52958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Lines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29968" y="3529584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Racing · Mountain · E-Bike · Youth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950208"/>
            <a:ext cx="3931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9502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029968" y="3950208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S/4HANA Cloud 2602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1097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SCENARIO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1426464"/>
            <a:ext cx="3931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142646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27648" y="1426464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BKR-100 Frame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1847088"/>
            <a:ext cx="3931920" cy="347472"/>
          </a:xfrm>
          <a:prstGeom prst="roundRect">
            <a:avLst>
              <a:gd name="adj" fmla="val 13158"/>
            </a:avLst>
          </a:prstGeom>
          <a:solidFill>
            <a:srgbClr val="EBF2F9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184708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No.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27648" y="1847088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MZ-RM-R100-01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267712"/>
            <a:ext cx="3931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226771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27648" y="2267712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 (ROH)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2688336"/>
            <a:ext cx="3931920" cy="347472"/>
          </a:xfrm>
          <a:prstGeom prst="roundRect">
            <a:avLst>
              <a:gd name="adj" fmla="val 13158"/>
            </a:avLst>
          </a:prstGeom>
          <a:solidFill>
            <a:srgbClr val="EBF2F9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608" y="268833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27648" y="2688336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PC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3108960"/>
            <a:ext cx="3931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64608" y="31089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Price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27648" y="3108960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$85.00 USD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54880" y="3529584"/>
            <a:ext cx="3931920" cy="347472"/>
          </a:xfrm>
          <a:prstGeom prst="roundRect">
            <a:avLst>
              <a:gd name="adj" fmla="val 13158"/>
            </a:avLst>
          </a:prstGeom>
          <a:solidFill>
            <a:srgbClr val="EBF2F9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64608" y="352958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Value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327648" y="3529584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$4,250.00 USD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54880" y="3950208"/>
            <a:ext cx="3931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64608" y="39502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27648" y="3950208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&amp; More Inc. (17300034)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54880" y="4370832"/>
            <a:ext cx="3931920" cy="347472"/>
          </a:xfrm>
          <a:prstGeom prst="roundRect">
            <a:avLst>
              <a:gd name="adj" fmla="val 13158"/>
            </a:avLst>
          </a:prstGeom>
          <a:solidFill>
            <a:srgbClr val="EBF2F9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64608" y="437083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327648" y="4370832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R100 Racing Bike — Prod. Order 1036845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P2P PROCESS 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Requisition to Payment — All Documents Live in SAP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21208" y="1115568"/>
            <a:ext cx="1444752" cy="2423160"/>
          </a:xfrm>
          <a:prstGeom prst="roundRect">
            <a:avLst>
              <a:gd name="adj" fmla="val 6329"/>
            </a:avLst>
          </a:prstGeom>
          <a:solidFill>
            <a:srgbClr val="1A5276"/>
          </a:solidFill>
          <a:ln/>
          <a:effectLst>
            <a:outerShdw blurRad="127000" dist="38100" dir="2700000" algn="bl" rotWithShape="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21208" y="1207008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FB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21208" y="1645920"/>
            <a:ext cx="14447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2648" y="2350008"/>
            <a:ext cx="1261872" cy="566928"/>
          </a:xfrm>
          <a:prstGeom prst="roundRect">
            <a:avLst>
              <a:gd name="adj" fmla="val 9677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2350008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B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0010002749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21208" y="3008376"/>
            <a:ext cx="1444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84248" y="2327148"/>
            <a:ext cx="182880" cy="0"/>
          </a:xfrm>
          <a:prstGeom prst="line">
            <a:avLst/>
          </a:prstGeom>
          <a:noFill/>
          <a:ln w="25400">
            <a:solidFill>
              <a:srgbClr val="5DAD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85416" y="1115568"/>
            <a:ext cx="1444752" cy="2423160"/>
          </a:xfrm>
          <a:prstGeom prst="roundRect">
            <a:avLst>
              <a:gd name="adj" fmla="val 6329"/>
            </a:avLst>
          </a:prstGeom>
          <a:solidFill>
            <a:srgbClr val="1F618D"/>
          </a:solidFill>
          <a:ln/>
          <a:effectLst>
            <a:outerShdw blurRad="127000" dist="38100" dir="27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85416" y="1207008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FB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185416" y="1645920"/>
            <a:ext cx="14447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276856" y="2350008"/>
            <a:ext cx="1261872" cy="566928"/>
          </a:xfrm>
          <a:prstGeom prst="roundRect">
            <a:avLst>
              <a:gd name="adj" fmla="val 9677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76856" y="2350008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B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Triggered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85416" y="3008376"/>
            <a:ext cx="1444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Proc. Manager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48456" y="2327148"/>
            <a:ext cx="182880" cy="0"/>
          </a:xfrm>
          <a:prstGeom prst="line">
            <a:avLst/>
          </a:prstGeom>
          <a:noFill/>
          <a:ln w="25400">
            <a:solidFill>
              <a:srgbClr val="5DAD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9624" y="1115568"/>
            <a:ext cx="1444752" cy="2423160"/>
          </a:xfrm>
          <a:prstGeom prst="roundRect">
            <a:avLst>
              <a:gd name="adj" fmla="val 6329"/>
            </a:avLst>
          </a:prstGeom>
          <a:solidFill>
            <a:srgbClr val="2471A3"/>
          </a:solidFill>
          <a:ln/>
          <a:effectLst>
            <a:outerShdw blurRad="127000" dist="38100" dir="27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849624" y="1207008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FB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849624" y="1645920"/>
            <a:ext cx="14447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941064" y="2350008"/>
            <a:ext cx="1261872" cy="566928"/>
          </a:xfrm>
          <a:prstGeom prst="roundRect">
            <a:avLst>
              <a:gd name="adj" fmla="val 9677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41064" y="2350008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B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4500064292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9624" y="3008376"/>
            <a:ext cx="1444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Proc. Coordinator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12664" y="2327148"/>
            <a:ext cx="182880" cy="0"/>
          </a:xfrm>
          <a:prstGeom prst="line">
            <a:avLst/>
          </a:prstGeom>
          <a:noFill/>
          <a:ln w="25400">
            <a:solidFill>
              <a:srgbClr val="5DAD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13832" y="1115568"/>
            <a:ext cx="1444752" cy="2423160"/>
          </a:xfrm>
          <a:prstGeom prst="roundRect">
            <a:avLst>
              <a:gd name="adj" fmla="val 6329"/>
            </a:avLst>
          </a:prstGeom>
          <a:solidFill>
            <a:srgbClr val="2980B9"/>
          </a:solidFill>
          <a:ln/>
          <a:effectLst>
            <a:outerShdw blurRad="127000" dist="38100" dir="27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513832" y="1207008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FB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513832" y="1645920"/>
            <a:ext cx="14447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05272" y="2350008"/>
            <a:ext cx="1261872" cy="566928"/>
          </a:xfrm>
          <a:prstGeom prst="roundRect">
            <a:avLst>
              <a:gd name="adj" fmla="val 9677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05272" y="2350008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B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 Doc 5000064835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13832" y="3008376"/>
            <a:ext cx="1444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976872" y="2327148"/>
            <a:ext cx="182880" cy="0"/>
          </a:xfrm>
          <a:prstGeom prst="line">
            <a:avLst/>
          </a:prstGeom>
          <a:noFill/>
          <a:ln w="25400">
            <a:solidFill>
              <a:srgbClr val="5DAD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78040" y="1115568"/>
            <a:ext cx="1444752" cy="2423160"/>
          </a:xfrm>
          <a:prstGeom prst="roundRect">
            <a:avLst>
              <a:gd name="adj" fmla="val 6329"/>
            </a:avLst>
          </a:prstGeom>
          <a:solidFill>
            <a:srgbClr val="3498DB"/>
          </a:solidFill>
          <a:ln/>
          <a:effectLst>
            <a:outerShdw blurRad="127000" dist="38100" dir="27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178040" y="1207008"/>
            <a:ext cx="1444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FB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178040" y="1645920"/>
            <a:ext cx="14447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269480" y="2350008"/>
            <a:ext cx="1261872" cy="566928"/>
          </a:xfrm>
          <a:prstGeom prst="roundRect">
            <a:avLst>
              <a:gd name="adj" fmla="val 9677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69480" y="2350008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B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 5105663963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178040" y="3008376"/>
            <a:ext cx="1444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0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Payable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37764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Match: Purchase Order  ·  Goods Receipt  ·  Supplier Invoice  →  Balance: $0.00  ✓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  ·  PURCHASE REQUISITION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 0010002749 — BKR-100 Frame Replenishment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0292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207008"/>
            <a:ext cx="4754880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0" y="1097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DETAILS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0" y="1426464"/>
            <a:ext cx="310896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0" y="1426464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Number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995160" y="1426464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0010002749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669280" y="1773936"/>
            <a:ext cx="3108960" cy="292608"/>
          </a:xfrm>
          <a:prstGeom prst="roundRect">
            <a:avLst>
              <a:gd name="adj" fmla="val 12500"/>
            </a:avLst>
          </a:prstGeom>
          <a:solidFill>
            <a:srgbClr val="EBF2F9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0720" y="1773936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995160" y="1773936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MZ-RM-R100-01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669280" y="2121408"/>
            <a:ext cx="310896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212140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995160" y="212140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BKR-100 Frame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669280" y="2468880"/>
            <a:ext cx="3108960" cy="292608"/>
          </a:xfrm>
          <a:prstGeom prst="roundRect">
            <a:avLst>
              <a:gd name="adj" fmla="val 12500"/>
            </a:avLst>
          </a:prstGeom>
          <a:solidFill>
            <a:srgbClr val="EBF2F9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60720" y="246888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995160" y="246888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PC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669280" y="2816352"/>
            <a:ext cx="310896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60720" y="281635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995160" y="281635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17.07.2026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669280" y="3163824"/>
            <a:ext cx="3108960" cy="292608"/>
          </a:xfrm>
          <a:prstGeom prst="roundRect">
            <a:avLst>
              <a:gd name="adj" fmla="val 12500"/>
            </a:avLst>
          </a:prstGeom>
          <a:solidFill>
            <a:srgbClr val="EBF2F9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60720" y="3163824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995160" y="3163824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1 US (1710)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669280" y="3511296"/>
            <a:ext cx="310896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760720" y="3511296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995160" y="3511296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Std. Storage 1 (171A)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669280" y="3858768"/>
            <a:ext cx="3108960" cy="292608"/>
          </a:xfrm>
          <a:prstGeom prst="roundRect">
            <a:avLst>
              <a:gd name="adj" fmla="val 12500"/>
            </a:avLst>
          </a:prstGeom>
          <a:solidFill>
            <a:srgbClr val="EBF2F9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760720" y="385876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Purch. Group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995160" y="385876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001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669280" y="4206240"/>
            <a:ext cx="310896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760720" y="42062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Matl. Group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995160" y="420624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ZFRAME — Frame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669280" y="457200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BF2F9"/>
          </a:solidFill>
          <a:ln w="6350">
            <a:solidFill>
              <a:srgbClr val="A0B4C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760720" y="4590288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live environment this PR would be auto-generated by an MRP run — not raised manually.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02–03  ·  APPROVAL &amp; PURCHASE ORDER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 4500064292 — Steel &amp; More Inc. — $4,250.00 USD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0292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207008"/>
            <a:ext cx="4754880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0" y="1097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DETAILS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0" y="1426464"/>
            <a:ext cx="310896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0" y="1426464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Number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995160" y="1426464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4500064292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669280" y="1773936"/>
            <a:ext cx="3108960" cy="292608"/>
          </a:xfrm>
          <a:prstGeom prst="roundRect">
            <a:avLst>
              <a:gd name="adj" fmla="val 12500"/>
            </a:avLst>
          </a:prstGeom>
          <a:solidFill>
            <a:srgbClr val="EBF2F9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0720" y="1773936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Type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995160" y="1773936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PO (NB)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669280" y="2121408"/>
            <a:ext cx="310896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212140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995160" y="212140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&amp; More Inc.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669280" y="2468880"/>
            <a:ext cx="3108960" cy="292608"/>
          </a:xfrm>
          <a:prstGeom prst="roundRect">
            <a:avLst>
              <a:gd name="adj" fmla="val 12500"/>
            </a:avLst>
          </a:prstGeom>
          <a:solidFill>
            <a:srgbClr val="EBF2F9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60720" y="246888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Supp. No.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995160" y="246888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17300034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669280" y="2816352"/>
            <a:ext cx="310896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60720" y="281635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Value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995160" y="281635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$4,250.00 USD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669280" y="3163824"/>
            <a:ext cx="3108960" cy="292608"/>
          </a:xfrm>
          <a:prstGeom prst="roundRect">
            <a:avLst>
              <a:gd name="adj" fmla="val 12500"/>
            </a:avLst>
          </a:prstGeom>
          <a:solidFill>
            <a:srgbClr val="EBF2F9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60720" y="3163824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Date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995160" y="3163824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19.06.2026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669280" y="3511296"/>
            <a:ext cx="310896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760720" y="3511296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995160" y="3511296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Approval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669280" y="3858768"/>
            <a:ext cx="3108960" cy="292608"/>
          </a:xfrm>
          <a:prstGeom prst="roundRect">
            <a:avLst>
              <a:gd name="adj" fmla="val 12500"/>
            </a:avLst>
          </a:prstGeom>
          <a:solidFill>
            <a:srgbClr val="EBF2F9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760720" y="385876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Purch. Org.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995160" y="385876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Purch. Org. 1710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669280" y="4206240"/>
            <a:ext cx="310896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760720" y="42062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Code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995160" y="420624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Velotics Inc. (1710)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669280" y="457200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BF2F9"/>
          </a:solidFill>
          <a:ln w="6350">
            <a:solidFill>
              <a:srgbClr val="A0B4C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760720" y="4590288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'In Approval' confirms SAP triggered the procurement approval workflow automatically on PO submission.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  ·  GOODS RECEIPT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 Document 5000064835/2026 — 50 Frames Into Stock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0292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188720"/>
            <a:ext cx="4754880" cy="20848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3456432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2920" y="3547872"/>
            <a:ext cx="4754880" cy="12618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0" y="1097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 DETAILS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669280" y="1426464"/>
            <a:ext cx="310896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760720" y="1426464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Doc.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6995160" y="1426464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5000064835/2026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669280" y="1773936"/>
            <a:ext cx="3108960" cy="292608"/>
          </a:xfrm>
          <a:prstGeom prst="roundRect">
            <a:avLst>
              <a:gd name="adj" fmla="val 12500"/>
            </a:avLst>
          </a:prstGeom>
          <a:solidFill>
            <a:srgbClr val="EBF2F9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760720" y="1773936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Mvt. Type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995160" y="1773936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 for PO (101)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669280" y="2121408"/>
            <a:ext cx="310896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760720" y="212140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995160" y="212140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BKR-100 Frame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669280" y="2468880"/>
            <a:ext cx="3108960" cy="292608"/>
          </a:xfrm>
          <a:prstGeom prst="roundRect">
            <a:avLst>
              <a:gd name="adj" fmla="val 12500"/>
            </a:avLst>
          </a:prstGeom>
          <a:solidFill>
            <a:srgbClr val="EBF2F9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760720" y="246888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Received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6995160" y="246888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PC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5669280" y="2816352"/>
            <a:ext cx="310896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760720" y="281635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Reference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995160" y="281635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4500064292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5669280" y="3163824"/>
            <a:ext cx="3108960" cy="292608"/>
          </a:xfrm>
          <a:prstGeom prst="roundRect">
            <a:avLst>
              <a:gd name="adj" fmla="val 12500"/>
            </a:avLst>
          </a:prstGeom>
          <a:solidFill>
            <a:srgbClr val="EBF2F9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760720" y="3163824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6995160" y="3163824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1 US (1710)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5669280" y="3511296"/>
            <a:ext cx="310896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760720" y="3511296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995160" y="3511296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Std. Storage 1 (171A)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5669280" y="3858768"/>
            <a:ext cx="3108960" cy="292608"/>
          </a:xfrm>
          <a:prstGeom prst="roundRect">
            <a:avLst>
              <a:gd name="adj" fmla="val 12500"/>
            </a:avLst>
          </a:prstGeom>
          <a:solidFill>
            <a:srgbClr val="EBF2F9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760720" y="385876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Type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6995160" y="385876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Unrestricted-Use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5669280" y="4206240"/>
            <a:ext cx="310896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760720" y="42062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Date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6995160" y="420624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19.06.2026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05  ·  INVOICE VERIFICATION &amp; 3-WAY MATCH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 5105663963/2026 — Balance $0.00 — 3-Way Match Passed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0292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188720"/>
            <a:ext cx="4754880" cy="2578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0" y="1097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MATCH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0" y="1426464"/>
            <a:ext cx="310896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60720" y="14813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760720" y="177393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$4,250.00  ·  PO 4500064292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669280" y="2249424"/>
            <a:ext cx="310896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760720" y="23042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Receipt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760720" y="259689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PC  ·  Mat Doc 5000064835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669280" y="3072384"/>
            <a:ext cx="310896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760720" y="31272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Invoice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760720" y="341985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$4,250.00  ·  Inv 5105663963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669280" y="3950208"/>
            <a:ext cx="3108960" cy="694944"/>
          </a:xfrm>
          <a:prstGeom prst="roundRect">
            <a:avLst>
              <a:gd name="adj" fmla="val 10526"/>
            </a:avLst>
          </a:prstGeom>
          <a:solidFill>
            <a:srgbClr val="DCFCE7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60720" y="398678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Balance: $0.00 USD  ✓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760720" y="426110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match passed — posted to Payables Domestic (21100000)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65760" y="39319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DETAILS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57200" y="422452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Doc.: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2011680" y="422452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5105663963/2026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57200" y="440740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Ref.: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2011680" y="440740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INV-SM-2026-0892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57200" y="459028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Amount: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2011680" y="459028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$4,250.00 USD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57200" y="477316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Invoicing Party: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2011680" y="47731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&amp; More Inc.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57200" y="495604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Recon. Account: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2011680" y="495604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21100000 Payables Dom.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PERFORMANCE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&amp; Metrics — P2P Cycle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29768" y="1115568"/>
            <a:ext cx="1920240" cy="1170432"/>
          </a:xfrm>
          <a:prstGeom prst="roundRect">
            <a:avLst>
              <a:gd name="adj" fmla="val 7813"/>
            </a:avLst>
          </a:prstGeom>
          <a:solidFill>
            <a:srgbClr val="1B2A4A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9768" y="12070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DAD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Day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29768" y="18105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PR-to-PO Lead Time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51176" y="1115568"/>
            <a:ext cx="1920240" cy="1170432"/>
          </a:xfrm>
          <a:prstGeom prst="roundRect">
            <a:avLst>
              <a:gd name="adj" fmla="val 7813"/>
            </a:avLst>
          </a:prstGeom>
          <a:solidFill>
            <a:srgbClr val="1B2A4A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51176" y="12070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DAD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$65.68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51176" y="18105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Per Unit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72584" y="1115568"/>
            <a:ext cx="1920240" cy="1170432"/>
          </a:xfrm>
          <a:prstGeom prst="roundRect">
            <a:avLst>
              <a:gd name="adj" fmla="val 7813"/>
            </a:avLst>
          </a:prstGeom>
          <a:solidFill>
            <a:srgbClr val="1B2A4A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72584" y="12070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DAD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72584" y="18105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Match Rate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793992" y="1115568"/>
            <a:ext cx="1920240" cy="1170432"/>
          </a:xfrm>
          <a:prstGeom prst="roundRect">
            <a:avLst>
              <a:gd name="adj" fmla="val 7813"/>
            </a:avLst>
          </a:prstGeom>
          <a:solidFill>
            <a:srgbClr val="1B2A4A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93992" y="12070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DAD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$3,284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793992" y="18105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Saving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24505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NEGOTIATED PRICE vs. STANDARD COST (USD)</a:t>
            </a:r>
            <a:endParaRPr lang="en-US" sz="9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365760" y="2724912"/>
          <a:ext cx="411480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 16"/>
          <p:cNvSpPr/>
          <p:nvPr/>
        </p:nvSpPr>
        <p:spPr>
          <a:xfrm>
            <a:off x="4846320" y="24505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REGISTER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743200"/>
          <a:ext cx="3840480" cy="210312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Requisition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0010002749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19.06.2026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Order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4500064292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19.06.2026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Goods Receipt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5000064835/2026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19.06.2026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Invoice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5105663963/2026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19.06.2026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NEXT STEPS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Improvement Observations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182F45"/>
          </a:solidFill>
          <a:ln/>
          <a:effectLst>
            <a:outerShdw blurRad="127000" dist="38100" dir="2700000" algn="bl" rotWithShape="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70432"/>
            <a:ext cx="6217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0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98448" y="1170432"/>
            <a:ext cx="7205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Formalise Pricing via Purchase Info Record (PIR)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98448" y="1481328"/>
            <a:ext cx="7205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$85.00 negotiated price with Steel &amp; More Inc. should be stored in SAP as a Purchase Info Record (ME11). This locks agreed pricing and conditions, auto-populates future POs, and eliminates manual price entry — reducing approval delays on repeat orders for BKR-100 Frames.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340864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182F45"/>
          </a:solidFill>
          <a:ln/>
          <a:effectLst>
            <a:outerShdw blurRad="127000" dist="38100" dir="2700000" algn="bl" rotWithShape="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432304"/>
            <a:ext cx="6217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0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298448" y="2432304"/>
            <a:ext cx="7205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to MRP-Driven Requisitioning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98448" y="2743200"/>
            <a:ext cx="7205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0010002749 was raised manually in this cycle. In production, the BKR-100 Frame requirement should be generated automatically by an MRP run (MD01) reading the R100 Bill of Materials against the production schedule — eliminating reactive buying and reducing stockout risk.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602736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182F45"/>
          </a:solidFill>
          <a:ln/>
          <a:effectLst>
            <a:outerShdw blurRad="127000" dist="38100" dir="27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694176"/>
            <a:ext cx="6217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0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298448" y="3694176"/>
            <a:ext cx="7205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Supplier Performance Tracking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98448" y="4005072"/>
            <a:ext cx="7205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Steel &amp; More Inc. now established as the sourced supplier, on-time delivery rate, quality acceptance rate, and lead time should be tracked against agreed SLAs. This data strengthens Velotics' position in the next contract negotiation and supports future sourcing decisions.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A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S/4HANA Cloud 2602  ·  Velotics Inc. (1710)  ·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2286000"/>
            <a:ext cx="4114800" cy="4114800"/>
          </a:xfrm>
          <a:prstGeom prst="ellipse">
            <a:avLst/>
          </a:prstGeom>
          <a:solidFill>
            <a:srgbClr val="162238"/>
          </a:solidFill>
          <a:ln w="12700">
            <a:solidFill>
              <a:srgbClr val="1622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5B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THIS 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Evidence Statement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7863840" cy="1024128"/>
          </a:xfrm>
          <a:prstGeom prst="roundRect">
            <a:avLst>
              <a:gd name="adj" fmla="val 8929"/>
            </a:avLst>
          </a:prstGeom>
          <a:solidFill>
            <a:srgbClr val="182F45"/>
          </a:solidFill>
          <a:ln/>
          <a:effectLst>
            <a:outerShdw blurRad="127000" dist="38100" dir="27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536192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SAP Execution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screenshot in this document was taken from a live SAP S/4HANA Cloud Public Edition 2602 system (my426318.s4hana.cloud.sap). Every document number — PR, PO, GR, and Invoice — is real and traceable.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633472"/>
            <a:ext cx="7863840" cy="1024128"/>
          </a:xfrm>
          <a:prstGeom prst="roundRect">
            <a:avLst>
              <a:gd name="adj" fmla="val 8929"/>
            </a:avLst>
          </a:prstGeom>
          <a:solidFill>
            <a:srgbClr val="182F45"/>
          </a:solidFill>
          <a:ln/>
          <a:effectLst>
            <a:outerShdw blurRad="127000" dist="38100" dir="2700000" algn="bl" rotWithShape="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2706624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Demonstrates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999232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P2P competency: raising a purchase requisition, converting to a purchase order, posting a goods receipt, processing a supplier invoice, and confirming 3-way match in SAP. These are core daily tasks in a Junior Buyer or Procurement Coordinator role.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3803904"/>
            <a:ext cx="7863840" cy="1024128"/>
          </a:xfrm>
          <a:prstGeom prst="roundRect">
            <a:avLst>
              <a:gd name="adj" fmla="val 8929"/>
            </a:avLst>
          </a:prstGeom>
          <a:solidFill>
            <a:srgbClr val="182F45"/>
          </a:solidFill>
          <a:ln/>
          <a:effectLst>
            <a:outerShdw blurRad="127000" dist="38100" dir="27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77056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Transaction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4169664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 also demonstrates understanding of where the process connects to MRP, Bills of Materials, Purchase Info Records, and supplier performance management — the broader procurement ecosystem that a buyer operates within.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A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Adarsh Puri G.  ·  SAP S/4HANA Cloud 2602  ·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1423</Words>
  <Application>Microsoft Office PowerPoint</Application>
  <PresentationFormat>On-screen Show (16:9)</PresentationFormat>
  <Paragraphs>241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SAP Procure-to-Pay Process Documentation — Velotics Inc.</dc:title>
  <dc:subject>PptxGenJS Presentation</dc:subject>
  <dc:creator>PptxGenJS</dc:creator>
  <cp:lastModifiedBy>Adarsh puri Goswami</cp:lastModifiedBy>
  <cp:revision>1</cp:revision>
  <dcterms:created xsi:type="dcterms:W3CDTF">2026-06-19T15:58:43Z</dcterms:created>
  <dcterms:modified xsi:type="dcterms:W3CDTF">2026-06-22T01:04:03Z</dcterms:modified>
</cp:coreProperties>
</file>